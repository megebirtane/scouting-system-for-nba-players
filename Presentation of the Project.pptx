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tr-TR"/>
              <a:t>Asıl başlık stilini düzenlemek için tıklayın</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914A7032-2181-4B41-919A-366A7EBD0C87}" type="datetimeFigureOut">
              <a:rPr lang="tr-TR" smtClean="0"/>
              <a:t>15.01.2026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3272517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14A7032-2181-4B41-919A-366A7EBD0C87}" type="datetimeFigureOut">
              <a:rPr lang="tr-TR" smtClean="0"/>
              <a:t>15.01.2026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598892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914A7032-2181-4B41-919A-366A7EBD0C87}" type="datetimeFigureOut">
              <a:rPr lang="tr-TR" smtClean="0"/>
              <a:t>15.01.2026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2668541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914A7032-2181-4B41-919A-366A7EBD0C87}" type="datetimeFigureOut">
              <a:rPr lang="tr-TR" smtClean="0"/>
              <a:t>15.01.2026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2232404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914A7032-2181-4B41-919A-366A7EBD0C87}" type="datetimeFigureOut">
              <a:rPr lang="tr-TR" smtClean="0"/>
              <a:t>15.01.2026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3187613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914A7032-2181-4B41-919A-366A7EBD0C87}" type="datetimeFigureOut">
              <a:rPr lang="tr-TR" smtClean="0"/>
              <a:t>15.01.2026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1072322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4A7032-2181-4B41-919A-366A7EBD0C87}" type="datetimeFigureOut">
              <a:rPr lang="tr-TR" smtClean="0"/>
              <a:t>15.01.2026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2330939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4A7032-2181-4B41-919A-366A7EBD0C87}" type="datetimeFigureOut">
              <a:rPr lang="tr-TR" smtClean="0"/>
              <a:t>15.01.2026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3562387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4A7032-2181-4B41-919A-366A7EBD0C87}" type="datetimeFigureOut">
              <a:rPr lang="tr-TR" smtClean="0"/>
              <a:t>15.01.2026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1948745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4A7032-2181-4B41-919A-366A7EBD0C87}" type="datetimeFigureOut">
              <a:rPr lang="tr-TR" smtClean="0"/>
              <a:t>15.01.2026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704461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4A7032-2181-4B41-919A-366A7EBD0C87}" type="datetimeFigureOut">
              <a:rPr lang="tr-TR" smtClean="0"/>
              <a:t>15.01.2026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842879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4A7032-2181-4B41-919A-366A7EBD0C87}" type="datetimeFigureOut">
              <a:rPr lang="tr-TR" smtClean="0"/>
              <a:t>15.01.2026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DE81602-C154-46B2-92BF-34C6D83CDB40}" type="slidenum">
              <a:rPr lang="tr-TR" smtClean="0"/>
              <a:t>‹#›</a:t>
            </a:fld>
            <a:endParaRPr lang="tr-TR"/>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777599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4A7032-2181-4B41-919A-366A7EBD0C87}" type="datetimeFigureOut">
              <a:rPr lang="tr-TR" smtClean="0"/>
              <a:t>15.01.2026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3279004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914A7032-2181-4B41-919A-366A7EBD0C87}" type="datetimeFigureOut">
              <a:rPr lang="tr-TR" smtClean="0"/>
              <a:t>15.01.2026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27031920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914A7032-2181-4B41-919A-366A7EBD0C87}" type="datetimeFigureOut">
              <a:rPr lang="tr-TR" smtClean="0"/>
              <a:t>15.01.2026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19730964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14A7032-2181-4B41-919A-366A7EBD0C87}" type="datetimeFigureOut">
              <a:rPr lang="tr-TR" smtClean="0"/>
              <a:t>15.01.2026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36807455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14A7032-2181-4B41-919A-366A7EBD0C87}" type="datetimeFigureOut">
              <a:rPr lang="tr-TR" smtClean="0"/>
              <a:t>15.01.2026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DE81602-C154-46B2-92BF-34C6D83CDB40}" type="slidenum">
              <a:rPr lang="tr-TR" smtClean="0"/>
              <a:t>‹#›</a:t>
            </a:fld>
            <a:endParaRPr lang="tr-TR"/>
          </a:p>
        </p:txBody>
      </p:sp>
    </p:spTree>
    <p:extLst>
      <p:ext uri="{BB962C8B-B14F-4D97-AF65-F5344CB8AC3E}">
        <p14:creationId xmlns:p14="http://schemas.microsoft.com/office/powerpoint/2010/main" val="3854508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14A7032-2181-4B41-919A-366A7EBD0C87}" type="datetimeFigureOut">
              <a:rPr lang="tr-TR" smtClean="0"/>
              <a:t>15.01.2026</a:t>
            </a:fld>
            <a:endParaRPr lang="tr-TR"/>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tr-T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DE81602-C154-46B2-92BF-34C6D83CDB40}" type="slidenum">
              <a:rPr lang="tr-TR" smtClean="0"/>
              <a:t>‹#›</a:t>
            </a:fld>
            <a:endParaRPr lang="tr-TR"/>
          </a:p>
        </p:txBody>
      </p:sp>
    </p:spTree>
    <p:extLst>
      <p:ext uri="{BB962C8B-B14F-4D97-AF65-F5344CB8AC3E}">
        <p14:creationId xmlns:p14="http://schemas.microsoft.com/office/powerpoint/2010/main" val="192519754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hoopshype.com/" TargetMode="External"/><Relationship Id="rId2" Type="http://schemas.openxmlformats.org/officeDocument/2006/relationships/hyperlink" Target="http://www.basketball-referenc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D6800D1-378E-F678-D5D6-79D4E8E22183}"/>
              </a:ext>
            </a:extLst>
          </p:cNvPr>
          <p:cNvSpPr>
            <a:spLocks noGrp="1"/>
          </p:cNvSpPr>
          <p:nvPr>
            <p:ph type="ctrTitle"/>
          </p:nvPr>
        </p:nvSpPr>
        <p:spPr/>
        <p:txBody>
          <a:bodyPr/>
          <a:lstStyle/>
          <a:p>
            <a:r>
              <a:rPr lang="tr-TR" sz="3000" kern="100" dirty="0" err="1">
                <a:effectLst/>
                <a:latin typeface="Times New Roman" panose="02020603050405020304" pitchFamily="18" charset="0"/>
                <a:ea typeface="Aptos" panose="020B0004020202020204" pitchFamily="34" charset="0"/>
                <a:cs typeface="Times New Roman" panose="02020603050405020304" pitchFamily="18" charset="0"/>
              </a:rPr>
              <a:t>Scouting</a:t>
            </a:r>
            <a:r>
              <a:rPr lang="tr-TR" sz="30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tr-TR" sz="3000" kern="100" dirty="0" err="1">
                <a:effectLst/>
                <a:latin typeface="Times New Roman" panose="02020603050405020304" pitchFamily="18" charset="0"/>
                <a:ea typeface="Aptos" panose="020B0004020202020204" pitchFamily="34" charset="0"/>
                <a:cs typeface="Times New Roman" panose="02020603050405020304" pitchFamily="18" charset="0"/>
              </a:rPr>
              <a:t>System</a:t>
            </a:r>
            <a:r>
              <a:rPr lang="tr-TR" sz="30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tr-TR" sz="3000" kern="100" dirty="0" err="1">
                <a:effectLst/>
                <a:latin typeface="Times New Roman" panose="02020603050405020304" pitchFamily="18" charset="0"/>
                <a:ea typeface="Aptos" panose="020B0004020202020204" pitchFamily="34" charset="0"/>
                <a:cs typeface="Times New Roman" panose="02020603050405020304" pitchFamily="18" charset="0"/>
              </a:rPr>
              <a:t>for</a:t>
            </a:r>
            <a:r>
              <a:rPr lang="tr-TR" sz="3000" kern="100" dirty="0">
                <a:effectLst/>
                <a:latin typeface="Times New Roman" panose="02020603050405020304" pitchFamily="18" charset="0"/>
                <a:ea typeface="Aptos" panose="020B0004020202020204" pitchFamily="34" charset="0"/>
                <a:cs typeface="Times New Roman" panose="02020603050405020304" pitchFamily="18" charset="0"/>
              </a:rPr>
              <a:t> NBA </a:t>
            </a:r>
            <a:r>
              <a:rPr lang="tr-TR" sz="3000" kern="100" dirty="0" err="1">
                <a:effectLst/>
                <a:latin typeface="Times New Roman" panose="02020603050405020304" pitchFamily="18" charset="0"/>
                <a:ea typeface="Aptos" panose="020B0004020202020204" pitchFamily="34" charset="0"/>
                <a:cs typeface="Times New Roman" panose="02020603050405020304" pitchFamily="18" charset="0"/>
              </a:rPr>
              <a:t>Players</a:t>
            </a:r>
            <a:br>
              <a:rPr lang="tr-TR" sz="1800" kern="100" dirty="0">
                <a:effectLst/>
                <a:latin typeface="Times New Roman" panose="02020603050405020304" pitchFamily="18" charset="0"/>
                <a:ea typeface="Aptos" panose="020B0004020202020204" pitchFamily="34" charset="0"/>
                <a:cs typeface="Times New Roman" panose="02020603050405020304" pitchFamily="18" charset="0"/>
              </a:rPr>
            </a:br>
            <a:br>
              <a:rPr lang="tr-TR" sz="1800" kern="100" dirty="0">
                <a:effectLst/>
                <a:latin typeface="Aptos" panose="020B0004020202020204" pitchFamily="34" charset="0"/>
                <a:ea typeface="Aptos" panose="020B0004020202020204" pitchFamily="34" charset="0"/>
                <a:cs typeface="Times New Roman" panose="02020603050405020304" pitchFamily="18" charset="0"/>
              </a:rPr>
            </a:br>
            <a:endParaRPr lang="tr-TR" dirty="0"/>
          </a:p>
        </p:txBody>
      </p:sp>
      <p:sp>
        <p:nvSpPr>
          <p:cNvPr id="3" name="Alt Başlık 2">
            <a:extLst>
              <a:ext uri="{FF2B5EF4-FFF2-40B4-BE49-F238E27FC236}">
                <a16:creationId xmlns:a16="http://schemas.microsoft.com/office/drawing/2014/main" id="{F057C233-09F8-7C7E-CF96-884ADC44F8C0}"/>
              </a:ext>
            </a:extLst>
          </p:cNvPr>
          <p:cNvSpPr>
            <a:spLocks noGrp="1"/>
          </p:cNvSpPr>
          <p:nvPr>
            <p:ph type="subTitle" idx="1"/>
          </p:nvPr>
        </p:nvSpPr>
        <p:spPr/>
        <p:txBody>
          <a:bodyPr/>
          <a:lstStyle/>
          <a:p>
            <a:endParaRPr lang="tr-TR" dirty="0"/>
          </a:p>
        </p:txBody>
      </p:sp>
    </p:spTree>
    <p:extLst>
      <p:ext uri="{BB962C8B-B14F-4D97-AF65-F5344CB8AC3E}">
        <p14:creationId xmlns:p14="http://schemas.microsoft.com/office/powerpoint/2010/main" val="1991350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AB8DDA-E9B8-701F-9F1E-598F42FF6817}"/>
              </a:ext>
            </a:extLst>
          </p:cNvPr>
          <p:cNvSpPr>
            <a:spLocks noGrp="1"/>
          </p:cNvSpPr>
          <p:nvPr>
            <p:ph type="title"/>
          </p:nvPr>
        </p:nvSpPr>
        <p:spPr/>
        <p:txBody>
          <a:bodyPr>
            <a:normAutofit fontScale="90000"/>
          </a:bodyPr>
          <a:lstStyle/>
          <a:p>
            <a:pPr algn="l"/>
            <a:r>
              <a:rPr lang="en-US" sz="3300" kern="100" dirty="0">
                <a:effectLst/>
                <a:latin typeface="Times New Roman" panose="02020603050405020304" pitchFamily="18" charset="0"/>
                <a:ea typeface="Aptos" panose="020B0004020202020204" pitchFamily="34" charset="0"/>
                <a:cs typeface="Times New Roman" panose="02020603050405020304" pitchFamily="18" charset="0"/>
              </a:rPr>
              <a:t>1-Introduction</a:t>
            </a:r>
            <a:br>
              <a:rPr lang="tr-TR" sz="1800" kern="100" dirty="0">
                <a:effectLst/>
                <a:latin typeface="Aptos" panose="020B0004020202020204" pitchFamily="34" charset="0"/>
                <a:ea typeface="Aptos" panose="020B0004020202020204" pitchFamily="34" charset="0"/>
                <a:cs typeface="Times New Roman" panose="02020603050405020304" pitchFamily="18" charset="0"/>
              </a:rPr>
            </a:br>
            <a:endParaRPr lang="tr-TR" dirty="0"/>
          </a:p>
        </p:txBody>
      </p:sp>
      <p:sp>
        <p:nvSpPr>
          <p:cNvPr id="3" name="İçerik Yer Tutucusu 2">
            <a:extLst>
              <a:ext uri="{FF2B5EF4-FFF2-40B4-BE49-F238E27FC236}">
                <a16:creationId xmlns:a16="http://schemas.microsoft.com/office/drawing/2014/main" id="{E8B1967E-55B2-B61D-7F9B-392603B83331}"/>
              </a:ext>
            </a:extLst>
          </p:cNvPr>
          <p:cNvSpPr>
            <a:spLocks noGrp="1"/>
          </p:cNvSpPr>
          <p:nvPr>
            <p:ph idx="1"/>
          </p:nvPr>
        </p:nvSpPr>
        <p:spPr/>
        <p:txBody>
          <a:bodyPr>
            <a:normAutofit fontScale="77500" lnSpcReduction="20000"/>
          </a:bodyPr>
          <a:lstStyle/>
          <a:p>
            <a:pPr>
              <a:lnSpc>
                <a:spcPct val="107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today’s world as every profession tends to become more professional and efficient, the world of sports has become a major financial giant with these innovations. As this expansion continues, the margin of error has been narrowed for both athletes and teams. Desire of excellence has pushed these athletes and teams to find ways to evaluate performances of individuals and gain a general understanding of their performance. As for the basketball, this quest for individual analysis had started when NBA introduced us with the “box score”, where officials kept every player’s point, rebound assist etc. to evaluate each player’s performance after a match just by looking at stat sheet. For quite some time, this method was enough for the coaches, team managements and fans but as the industry grew and become more competitive over the years, these metrics weren’t satisfying anyone. So, stat analysts came with the idea of advanced metrics and data analytics. These innovations helped team managements and coaches to work more efficiently and bring their team success. </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This project aims in a similar way, enhancing the analysis of NBA players by introducing a customized metric, Customized Efficiency Rating (CER), aiming to reflect more accurate results than the traditional statistics. The primary object of this project is to classify NBA players who were selected as All-Star players throughout 2019 to 2024 into three performance categories: MVP caliber, All-NBA Caliber and All-Star Caliber. This classification helps us to distinguish players who are top performers, solid contributor, and standout talents within all of the All-Star selections.</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By using the machine learning techniques and a dataset consist of All-Star players of 2019-2024, this project seeks to create a data-driven approach to predict player efficiency. With classification, not only helps us to have a better player assessment but also helps enhancing decision making processes related to scouting and contract negotiations procedure.</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In this report, I’ll be showing the processes of creating a dataset, developing the efficiency metric, implementing machine learning models and experimental results.</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92306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415AD42-AA03-0B40-79F0-A1A6669F0378}"/>
              </a:ext>
            </a:extLst>
          </p:cNvPr>
          <p:cNvSpPr>
            <a:spLocks noGrp="1"/>
          </p:cNvSpPr>
          <p:nvPr>
            <p:ph type="title"/>
          </p:nvPr>
        </p:nvSpPr>
        <p:spPr/>
        <p:txBody>
          <a:bodyPr>
            <a:normAutofit fontScale="90000"/>
          </a:bodyPr>
          <a:lstStyle/>
          <a:p>
            <a:pPr algn="l"/>
            <a:r>
              <a:rPr lang="en-US" sz="3300" kern="100" dirty="0">
                <a:effectLst/>
                <a:latin typeface="Times New Roman" panose="02020603050405020304" pitchFamily="18" charset="0"/>
                <a:ea typeface="Aptos" panose="020B0004020202020204" pitchFamily="34" charset="0"/>
                <a:cs typeface="Times New Roman" panose="02020603050405020304" pitchFamily="18" charset="0"/>
              </a:rPr>
              <a:t>2-Dataset Description</a:t>
            </a:r>
            <a:br>
              <a:rPr lang="tr-TR" sz="1800" kern="100" dirty="0">
                <a:effectLst/>
                <a:latin typeface="Aptos" panose="020B0004020202020204" pitchFamily="34" charset="0"/>
                <a:ea typeface="Aptos" panose="020B0004020202020204" pitchFamily="34" charset="0"/>
                <a:cs typeface="Times New Roman" panose="02020603050405020304" pitchFamily="18" charset="0"/>
              </a:rPr>
            </a:br>
            <a:endParaRPr lang="tr-TR" dirty="0"/>
          </a:p>
        </p:txBody>
      </p:sp>
      <p:sp>
        <p:nvSpPr>
          <p:cNvPr id="3" name="İçerik Yer Tutucusu 2">
            <a:extLst>
              <a:ext uri="{FF2B5EF4-FFF2-40B4-BE49-F238E27FC236}">
                <a16:creationId xmlns:a16="http://schemas.microsoft.com/office/drawing/2014/main" id="{C37CC232-5AF3-3ACA-F8F2-47DADD27CCAF}"/>
              </a:ext>
            </a:extLst>
          </p:cNvPr>
          <p:cNvSpPr>
            <a:spLocks noGrp="1"/>
          </p:cNvSpPr>
          <p:nvPr>
            <p:ph idx="1"/>
          </p:nvPr>
        </p:nvSpPr>
        <p:spPr>
          <a:xfrm>
            <a:off x="913795" y="1094825"/>
            <a:ext cx="10353762" cy="4058751"/>
          </a:xfrm>
        </p:spPr>
        <p:txBody>
          <a:bodyPr>
            <a:normAutofit fontScale="25000" lnSpcReduction="20000"/>
          </a:bodyPr>
          <a:lstStyle/>
          <a:p>
            <a:pPr marL="36900" indent="0">
              <a:lnSpc>
                <a:spcPct val="107000"/>
              </a:lnSpc>
              <a:spcAft>
                <a:spcPts val="800"/>
              </a:spcAft>
              <a:buNone/>
            </a:pP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 This project’s dataset consists of detailed performance statistics of NBA players selected as All-Stars throughout 2019 to 2024 seasons. Dataset consists of 60 players, reflecting a niche quantity of players that quantify each player’s contributions throughout the season. Dataset features the following columns:</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err="1">
                <a:effectLst/>
                <a:latin typeface="Times New Roman" panose="02020603050405020304" pitchFamily="18" charset="0"/>
                <a:ea typeface="Aptos" panose="020B0004020202020204" pitchFamily="34" charset="0"/>
                <a:cs typeface="Times New Roman" panose="02020603050405020304" pitchFamily="18" charset="0"/>
              </a:rPr>
              <a:t>player_name</a:t>
            </a: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 Name of the player</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conference: The conference in which the player competes, either East or West.</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err="1">
                <a:effectLst/>
                <a:latin typeface="Times New Roman" panose="02020603050405020304" pitchFamily="18" charset="0"/>
                <a:ea typeface="Aptos" panose="020B0004020202020204" pitchFamily="34" charset="0"/>
                <a:cs typeface="Times New Roman" panose="02020603050405020304" pitchFamily="18" charset="0"/>
              </a:rPr>
              <a:t>games_played</a:t>
            </a: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 Amount of game a player played during the season.</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err="1">
                <a:effectLst/>
                <a:latin typeface="Times New Roman" panose="02020603050405020304" pitchFamily="18" charset="0"/>
                <a:ea typeface="Aptos" panose="020B0004020202020204" pitchFamily="34" charset="0"/>
                <a:cs typeface="Times New Roman" panose="02020603050405020304" pitchFamily="18" charset="0"/>
              </a:rPr>
              <a:t>mp</a:t>
            </a: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 (minutes per game): Average minutes played per game.</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ppg (points per game): Average points scored per game.</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err="1">
                <a:effectLst/>
                <a:latin typeface="Times New Roman" panose="02020603050405020304" pitchFamily="18" charset="0"/>
                <a:ea typeface="Aptos" panose="020B0004020202020204" pitchFamily="34" charset="0"/>
                <a:cs typeface="Times New Roman" panose="02020603050405020304" pitchFamily="18" charset="0"/>
              </a:rPr>
              <a:t>rpg</a:t>
            </a: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 (rebounds per game): Average no. of rebounds per game.</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err="1">
                <a:effectLst/>
                <a:latin typeface="Times New Roman" panose="02020603050405020304" pitchFamily="18" charset="0"/>
                <a:ea typeface="Aptos" panose="020B0004020202020204" pitchFamily="34" charset="0"/>
                <a:cs typeface="Times New Roman" panose="02020603050405020304" pitchFamily="18" charset="0"/>
              </a:rPr>
              <a:t>apg</a:t>
            </a: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 (assists per game): Average no. of assists per game.</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err="1">
                <a:effectLst/>
                <a:latin typeface="Times New Roman" panose="02020603050405020304" pitchFamily="18" charset="0"/>
                <a:ea typeface="Aptos" panose="020B0004020202020204" pitchFamily="34" charset="0"/>
                <a:cs typeface="Times New Roman" panose="02020603050405020304" pitchFamily="18" charset="0"/>
              </a:rPr>
              <a:t>spg</a:t>
            </a: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 (steals per game): Average no. of steals per game.</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err="1">
                <a:effectLst/>
                <a:latin typeface="Times New Roman" panose="02020603050405020304" pitchFamily="18" charset="0"/>
                <a:ea typeface="Aptos" panose="020B0004020202020204" pitchFamily="34" charset="0"/>
                <a:cs typeface="Times New Roman" panose="02020603050405020304" pitchFamily="18" charset="0"/>
              </a:rPr>
              <a:t>bpg</a:t>
            </a: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 (block per game): Average no. of block per game.</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to (turnovers per game): Average no. of turnovers per game.</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err="1">
                <a:effectLst/>
                <a:latin typeface="Times New Roman" panose="02020603050405020304" pitchFamily="18" charset="0"/>
                <a:ea typeface="Aptos" panose="020B0004020202020204" pitchFamily="34" charset="0"/>
                <a:cs typeface="Times New Roman" panose="02020603050405020304" pitchFamily="18" charset="0"/>
              </a:rPr>
              <a:t>fg</a:t>
            </a: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 (field goal percentage): Percentage of field goal attempts that are successful.</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3p% (three-point percentage): Percentage of three-point shot attempts that are successful.</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2p% (two-point percentage): Percentage of two-point shot attempts that are successful.</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ft% (free throw percentage): Percentage of free throw attempts that are successful.</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Salary: the player’s salary for the season in USD</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6900" indent="0">
              <a:lnSpc>
                <a:spcPct val="107000"/>
              </a:lnSpc>
              <a:spcAft>
                <a:spcPts val="800"/>
              </a:spcAft>
              <a:buNone/>
            </a:pPr>
            <a:r>
              <a:rPr lang="en-US" sz="4800" kern="100" dirty="0">
                <a:effectLst/>
                <a:latin typeface="Times New Roman" panose="02020603050405020304" pitchFamily="18" charset="0"/>
                <a:ea typeface="Aptos" panose="020B0004020202020204" pitchFamily="34" charset="0"/>
                <a:cs typeface="Times New Roman" panose="02020603050405020304" pitchFamily="18" charset="0"/>
              </a:rPr>
              <a:t> Each feature in this dataset corresponds to an individual player’s statistics on a particular side of the basketball game, gives us an opportunity to analyze the players in a more dimensional way. This dataset was preprocessed to ensure there are no missing values in any of the columns The statistics provided are used to calculate the Customized Efficiency Rating (CER), which helps us on basis for subsequent analysis and classification into performance categories: MVP Caliber, All-NBA Caliber, and All-Star Caliber.</a:t>
            </a:r>
            <a:endParaRPr lang="tr-TR" sz="4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3969454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6888821-89BF-D1DF-4819-2E2BAF75AD14}"/>
              </a:ext>
            </a:extLst>
          </p:cNvPr>
          <p:cNvSpPr>
            <a:spLocks noGrp="1"/>
          </p:cNvSpPr>
          <p:nvPr>
            <p:ph type="title"/>
          </p:nvPr>
        </p:nvSpPr>
        <p:spPr/>
        <p:txBody>
          <a:bodyPr>
            <a:normAutofit fontScale="90000"/>
          </a:bodyPr>
          <a:lstStyle/>
          <a:p>
            <a:pPr algn="l"/>
            <a:r>
              <a:rPr lang="en-US" sz="3300" kern="100" dirty="0">
                <a:effectLst/>
                <a:latin typeface="Times New Roman" panose="02020603050405020304" pitchFamily="18" charset="0"/>
                <a:ea typeface="Aptos" panose="020B0004020202020204" pitchFamily="34" charset="0"/>
                <a:cs typeface="Times New Roman" panose="02020603050405020304" pitchFamily="18" charset="0"/>
              </a:rPr>
              <a:t>3-Methods</a:t>
            </a:r>
            <a:br>
              <a:rPr lang="tr-TR" sz="1800" kern="100" dirty="0">
                <a:effectLst/>
                <a:latin typeface="Aptos" panose="020B0004020202020204" pitchFamily="34" charset="0"/>
                <a:ea typeface="Aptos" panose="020B0004020202020204" pitchFamily="34" charset="0"/>
                <a:cs typeface="Times New Roman" panose="02020603050405020304" pitchFamily="18" charset="0"/>
              </a:rPr>
            </a:br>
            <a:endParaRPr lang="tr-TR" dirty="0"/>
          </a:p>
        </p:txBody>
      </p:sp>
      <p:sp>
        <p:nvSpPr>
          <p:cNvPr id="3" name="İçerik Yer Tutucusu 2">
            <a:extLst>
              <a:ext uri="{FF2B5EF4-FFF2-40B4-BE49-F238E27FC236}">
                <a16:creationId xmlns:a16="http://schemas.microsoft.com/office/drawing/2014/main" id="{8E51661E-586E-7CB9-6C50-B6D6A287B1D9}"/>
              </a:ext>
            </a:extLst>
          </p:cNvPr>
          <p:cNvSpPr>
            <a:spLocks noGrp="1"/>
          </p:cNvSpPr>
          <p:nvPr>
            <p:ph idx="1"/>
          </p:nvPr>
        </p:nvSpPr>
        <p:spPr/>
        <p:txBody>
          <a:bodyPr/>
          <a:lstStyle/>
          <a:p>
            <a:pPr marL="36900" indent="0">
              <a:lnSpc>
                <a:spcPct val="107000"/>
              </a:lnSpc>
              <a:spcAft>
                <a:spcPts val="800"/>
              </a:spcAft>
              <a:buNone/>
            </a:pP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Data Preparation</a:t>
            </a:r>
            <a:r>
              <a:rPr lang="tr-TR" sz="25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tr-TR" sz="25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As we see on the previous part, every entry has 14 features that need to be filled by every entry, so in order to get a better understanding of the dataset that I have and also make sure every entry has a variable and suits its data type, I used the methods below: </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Resim 3" descr="metin, yazı tipi, ekran görüntüsü, grafik içeren bir resim&#10;&#10;Açıklama otomatik olarak oluşturuldu">
            <a:extLst>
              <a:ext uri="{FF2B5EF4-FFF2-40B4-BE49-F238E27FC236}">
                <a16:creationId xmlns:a16="http://schemas.microsoft.com/office/drawing/2014/main" id="{C5A4275D-039E-5A3F-38DA-AF90120F959A}"/>
              </a:ext>
            </a:extLst>
          </p:cNvPr>
          <p:cNvPicPr>
            <a:picLocks noChangeAspect="1"/>
          </p:cNvPicPr>
          <p:nvPr/>
        </p:nvPicPr>
        <p:blipFill>
          <a:blip r:embed="rId2"/>
          <a:stretch>
            <a:fillRect/>
          </a:stretch>
        </p:blipFill>
        <p:spPr>
          <a:xfrm>
            <a:off x="924443" y="3429000"/>
            <a:ext cx="5528034" cy="1541944"/>
          </a:xfrm>
          <a:prstGeom prst="rect">
            <a:avLst/>
          </a:prstGeom>
        </p:spPr>
      </p:pic>
    </p:spTree>
    <p:extLst>
      <p:ext uri="{BB962C8B-B14F-4D97-AF65-F5344CB8AC3E}">
        <p14:creationId xmlns:p14="http://schemas.microsoft.com/office/powerpoint/2010/main" val="3511279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3B08A08-8311-3D67-CFA7-C7B5978FEBD5}"/>
              </a:ext>
            </a:extLst>
          </p:cNvPr>
          <p:cNvSpPr>
            <a:spLocks noGrp="1"/>
          </p:cNvSpPr>
          <p:nvPr>
            <p:ph type="title"/>
          </p:nvPr>
        </p:nvSpPr>
        <p:spPr/>
        <p:txBody>
          <a:bodyPr>
            <a:normAutofit/>
          </a:bodyPr>
          <a:lstStyle/>
          <a:p>
            <a:pPr algn="l"/>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Data Normalization</a:t>
            </a:r>
            <a:r>
              <a:rPr lang="tr-TR" sz="2500" kern="100" dirty="0">
                <a:effectLst/>
                <a:latin typeface="Times New Roman" panose="02020603050405020304" pitchFamily="18" charset="0"/>
                <a:ea typeface="Aptos" panose="020B0004020202020204" pitchFamily="34" charset="0"/>
                <a:cs typeface="Times New Roman" panose="02020603050405020304" pitchFamily="18" charset="0"/>
              </a:rPr>
              <a:t>:</a:t>
            </a:r>
            <a:br>
              <a:rPr lang="tr-TR" sz="2500" kern="100" dirty="0">
                <a:effectLst/>
                <a:latin typeface="Aptos" panose="020B0004020202020204" pitchFamily="34" charset="0"/>
                <a:ea typeface="Aptos" panose="020B0004020202020204" pitchFamily="34" charset="0"/>
                <a:cs typeface="Times New Roman" panose="02020603050405020304" pitchFamily="18" charset="0"/>
              </a:rPr>
            </a:br>
            <a:endParaRPr lang="tr-TR" sz="2500" dirty="0"/>
          </a:p>
        </p:txBody>
      </p:sp>
      <p:sp>
        <p:nvSpPr>
          <p:cNvPr id="3" name="İçerik Yer Tutucusu 2">
            <a:extLst>
              <a:ext uri="{FF2B5EF4-FFF2-40B4-BE49-F238E27FC236}">
                <a16:creationId xmlns:a16="http://schemas.microsoft.com/office/drawing/2014/main" id="{E0953002-65D8-C4D4-1AEC-235DD756EFCA}"/>
              </a:ext>
            </a:extLst>
          </p:cNvPr>
          <p:cNvSpPr>
            <a:spLocks noGrp="1"/>
          </p:cNvSpPr>
          <p:nvPr>
            <p:ph idx="1"/>
          </p:nvPr>
        </p:nvSpPr>
        <p:spPr/>
        <p:txBody>
          <a:bodyPr/>
          <a:lstStyle/>
          <a:p>
            <a:pPr marL="36900" indent="0">
              <a:lnSpc>
                <a:spcPct val="107000"/>
              </a:lnSpc>
              <a:spcAft>
                <a:spcPts val="800"/>
              </a:spcAft>
              <a:buNone/>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StandardScaler</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from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sklearn.preprocessing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was utilized to normalize features like ppg,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rpg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apg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spg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etc. to ensure all variable contribute equally.</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tr-TR" dirty="0"/>
          </a:p>
        </p:txBody>
      </p:sp>
      <p:pic>
        <p:nvPicPr>
          <p:cNvPr id="4" name="Resim 3" descr="metin, ekran görüntüsü, yazı tipi içeren bir resim&#10;&#10;Açıklama otomatik olarak oluşturuldu">
            <a:extLst>
              <a:ext uri="{FF2B5EF4-FFF2-40B4-BE49-F238E27FC236}">
                <a16:creationId xmlns:a16="http://schemas.microsoft.com/office/drawing/2014/main" id="{D54FF684-12E2-8EBD-2B10-FF11546B1BBC}"/>
              </a:ext>
            </a:extLst>
          </p:cNvPr>
          <p:cNvPicPr>
            <a:picLocks noChangeAspect="1"/>
          </p:cNvPicPr>
          <p:nvPr/>
        </p:nvPicPr>
        <p:blipFill>
          <a:blip r:embed="rId2"/>
          <a:stretch>
            <a:fillRect/>
          </a:stretch>
        </p:blipFill>
        <p:spPr>
          <a:xfrm>
            <a:off x="913795" y="2661369"/>
            <a:ext cx="7994526" cy="1527173"/>
          </a:xfrm>
          <a:prstGeom prst="rect">
            <a:avLst/>
          </a:prstGeom>
        </p:spPr>
      </p:pic>
    </p:spTree>
    <p:extLst>
      <p:ext uri="{BB962C8B-B14F-4D97-AF65-F5344CB8AC3E}">
        <p14:creationId xmlns:p14="http://schemas.microsoft.com/office/powerpoint/2010/main" val="2467278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BA8933F-D778-00F3-D209-5966ABF70197}"/>
              </a:ext>
            </a:extLst>
          </p:cNvPr>
          <p:cNvSpPr>
            <a:spLocks noGrp="1"/>
          </p:cNvSpPr>
          <p:nvPr>
            <p:ph type="title"/>
          </p:nvPr>
        </p:nvSpPr>
        <p:spPr/>
        <p:txBody>
          <a:bodyPr>
            <a:normAutofit/>
          </a:bodyPr>
          <a:lstStyle/>
          <a:p>
            <a:pPr algn="l"/>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Feature Engineering</a:t>
            </a:r>
            <a:r>
              <a:rPr lang="tr-TR" sz="2500" kern="100" dirty="0">
                <a:effectLst/>
                <a:latin typeface="Times New Roman" panose="02020603050405020304" pitchFamily="18" charset="0"/>
                <a:ea typeface="Aptos" panose="020B0004020202020204" pitchFamily="34" charset="0"/>
                <a:cs typeface="Times New Roman" panose="02020603050405020304" pitchFamily="18" charset="0"/>
              </a:rPr>
              <a:t>:</a:t>
            </a:r>
            <a:br>
              <a:rPr lang="tr-TR" sz="2500" kern="100" dirty="0">
                <a:effectLst/>
                <a:latin typeface="Aptos" panose="020B0004020202020204" pitchFamily="34" charset="0"/>
                <a:ea typeface="Aptos" panose="020B0004020202020204" pitchFamily="34" charset="0"/>
                <a:cs typeface="Times New Roman" panose="02020603050405020304" pitchFamily="18" charset="0"/>
              </a:rPr>
            </a:br>
            <a:endParaRPr lang="tr-TR" sz="2500" dirty="0"/>
          </a:p>
        </p:txBody>
      </p:sp>
      <p:sp>
        <p:nvSpPr>
          <p:cNvPr id="3" name="İçerik Yer Tutucusu 2">
            <a:extLst>
              <a:ext uri="{FF2B5EF4-FFF2-40B4-BE49-F238E27FC236}">
                <a16:creationId xmlns:a16="http://schemas.microsoft.com/office/drawing/2014/main" id="{FA05A6D7-AFC1-CF24-C79E-FE9D5A82C4FE}"/>
              </a:ext>
            </a:extLst>
          </p:cNvPr>
          <p:cNvSpPr>
            <a:spLocks noGrp="1"/>
          </p:cNvSpPr>
          <p:nvPr>
            <p:ph idx="1"/>
          </p:nvPr>
        </p:nvSpPr>
        <p:spPr/>
        <p:txBody>
          <a:bodyPr/>
          <a:lstStyle/>
          <a:p>
            <a:r>
              <a:rPr lang="en-US" sz="1800" dirty="0">
                <a:effectLst/>
                <a:latin typeface="Times New Roman" panose="02020603050405020304" pitchFamily="18" charset="0"/>
                <a:ea typeface="Aptos" panose="020B0004020202020204" pitchFamily="34" charset="0"/>
              </a:rPr>
              <a:t>For this project, I have created a customized rating system which is called Customized Efficiency Rating (CER) to calculate each player’s efficiency score based on weighted contributions from all recorded statistics. The CER also takes number of played games into account to factor in consistency and durability over the season. Based on their CER score, players are categorized into three performance categories: MVP Caliber, All-NBA Caliber, All-Star Caliber.  CER was inspired by the real-life rating system Player Efficiency Rating (PER).</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endParaRPr lang="tr-TR" dirty="0"/>
          </a:p>
        </p:txBody>
      </p:sp>
      <p:pic>
        <p:nvPicPr>
          <p:cNvPr id="4" name="Resim 3" descr="metin, ekran görüntüsü, yazı tipi içeren bir resim&#10;&#10;Açıklama otomatik olarak oluşturuldu">
            <a:extLst>
              <a:ext uri="{FF2B5EF4-FFF2-40B4-BE49-F238E27FC236}">
                <a16:creationId xmlns:a16="http://schemas.microsoft.com/office/drawing/2014/main" id="{00CCBCB7-5AC1-C152-E640-F45E18614A16}"/>
              </a:ext>
            </a:extLst>
          </p:cNvPr>
          <p:cNvPicPr>
            <a:picLocks noChangeAspect="1"/>
          </p:cNvPicPr>
          <p:nvPr/>
        </p:nvPicPr>
        <p:blipFill>
          <a:blip r:embed="rId2"/>
          <a:stretch>
            <a:fillRect/>
          </a:stretch>
        </p:blipFill>
        <p:spPr>
          <a:xfrm>
            <a:off x="1327845" y="3429000"/>
            <a:ext cx="6977689" cy="2598174"/>
          </a:xfrm>
          <a:prstGeom prst="rect">
            <a:avLst/>
          </a:prstGeom>
        </p:spPr>
      </p:pic>
    </p:spTree>
    <p:extLst>
      <p:ext uri="{BB962C8B-B14F-4D97-AF65-F5344CB8AC3E}">
        <p14:creationId xmlns:p14="http://schemas.microsoft.com/office/powerpoint/2010/main" val="2113312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6F7D8A-D4C1-0BD9-925E-86CCFF165211}"/>
              </a:ext>
            </a:extLst>
          </p:cNvPr>
          <p:cNvSpPr>
            <a:spLocks noGrp="1"/>
          </p:cNvSpPr>
          <p:nvPr>
            <p:ph type="title"/>
          </p:nvPr>
        </p:nvSpPr>
        <p:spPr>
          <a:xfrm>
            <a:off x="919119" y="304800"/>
            <a:ext cx="10353762" cy="970450"/>
          </a:xfrm>
        </p:spPr>
        <p:txBody>
          <a:bodyPr/>
          <a:lstStyle/>
          <a:p>
            <a:pPr algn="l"/>
            <a:r>
              <a:rPr lang="tr-TR" sz="2500" dirty="0" err="1"/>
              <a:t>Results</a:t>
            </a:r>
            <a:r>
              <a:rPr lang="tr-TR" sz="2500" dirty="0"/>
              <a:t>:</a:t>
            </a:r>
            <a:endParaRPr lang="tr-TR" dirty="0"/>
          </a:p>
        </p:txBody>
      </p:sp>
      <p:pic>
        <p:nvPicPr>
          <p:cNvPr id="4" name="İçerik Yer Tutucusu 3" descr="metin, menü, ekran görüntüsü içeren bir resim&#10;&#10;Açıklama otomatik olarak oluşturuldu">
            <a:extLst>
              <a:ext uri="{FF2B5EF4-FFF2-40B4-BE49-F238E27FC236}">
                <a16:creationId xmlns:a16="http://schemas.microsoft.com/office/drawing/2014/main" id="{FFD41489-9F52-A26D-5764-69FDDFB72DA6}"/>
              </a:ext>
            </a:extLst>
          </p:cNvPr>
          <p:cNvPicPr>
            <a:picLocks noGrp="1" noChangeAspect="1"/>
          </p:cNvPicPr>
          <p:nvPr>
            <p:ph idx="1"/>
          </p:nvPr>
        </p:nvPicPr>
        <p:blipFill>
          <a:blip r:embed="rId2"/>
          <a:stretch>
            <a:fillRect/>
          </a:stretch>
        </p:blipFill>
        <p:spPr>
          <a:xfrm>
            <a:off x="2486778" y="1438224"/>
            <a:ext cx="2735580" cy="5199962"/>
          </a:xfrm>
          <a:prstGeom prst="rect">
            <a:avLst/>
          </a:prstGeom>
        </p:spPr>
      </p:pic>
      <p:pic>
        <p:nvPicPr>
          <p:cNvPr id="5" name="Resim 4" descr="metin, ekran görüntüsü, menü, yazı tipi içeren bir resim&#10;&#10;Açıklama otomatik olarak oluşturuldu">
            <a:extLst>
              <a:ext uri="{FF2B5EF4-FFF2-40B4-BE49-F238E27FC236}">
                <a16:creationId xmlns:a16="http://schemas.microsoft.com/office/drawing/2014/main" id="{BB239DF6-A073-D78C-8F1B-DF0E8903536C}"/>
              </a:ext>
            </a:extLst>
          </p:cNvPr>
          <p:cNvPicPr>
            <a:picLocks noChangeAspect="1"/>
          </p:cNvPicPr>
          <p:nvPr/>
        </p:nvPicPr>
        <p:blipFill>
          <a:blip r:embed="rId3"/>
          <a:stretch>
            <a:fillRect/>
          </a:stretch>
        </p:blipFill>
        <p:spPr>
          <a:xfrm>
            <a:off x="5866498" y="1438224"/>
            <a:ext cx="3319476" cy="3133776"/>
          </a:xfrm>
          <a:prstGeom prst="rect">
            <a:avLst/>
          </a:prstGeom>
        </p:spPr>
      </p:pic>
    </p:spTree>
    <p:extLst>
      <p:ext uri="{BB962C8B-B14F-4D97-AF65-F5344CB8AC3E}">
        <p14:creationId xmlns:p14="http://schemas.microsoft.com/office/powerpoint/2010/main" val="2139679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9A48176-DA50-8A3D-D9D1-F0F4B4E0D420}"/>
              </a:ext>
            </a:extLst>
          </p:cNvPr>
          <p:cNvSpPr>
            <a:spLocks noGrp="1"/>
          </p:cNvSpPr>
          <p:nvPr>
            <p:ph type="title"/>
          </p:nvPr>
        </p:nvSpPr>
        <p:spPr/>
        <p:txBody>
          <a:bodyPr>
            <a:normAutofit/>
          </a:bodyPr>
          <a:lstStyle/>
          <a:p>
            <a:pPr algn="l"/>
            <a:r>
              <a:rPr lang="tr-TR" sz="2500" dirty="0" err="1">
                <a:latin typeface="Times New Roman" panose="02020603050405020304" pitchFamily="18" charset="0"/>
                <a:cs typeface="Times New Roman" panose="02020603050405020304" pitchFamily="18" charset="0"/>
              </a:rPr>
              <a:t>Feature</a:t>
            </a:r>
            <a:r>
              <a:rPr lang="tr-TR" sz="2500" dirty="0">
                <a:latin typeface="Times New Roman" panose="02020603050405020304" pitchFamily="18" charset="0"/>
                <a:cs typeface="Times New Roman" panose="02020603050405020304" pitchFamily="18" charset="0"/>
              </a:rPr>
              <a:t> </a:t>
            </a:r>
            <a:r>
              <a:rPr lang="tr-TR" sz="2500" dirty="0" err="1">
                <a:latin typeface="Times New Roman" panose="02020603050405020304" pitchFamily="18" charset="0"/>
                <a:cs typeface="Times New Roman" panose="02020603050405020304" pitchFamily="18" charset="0"/>
              </a:rPr>
              <a:t>Engineering</a:t>
            </a:r>
            <a:r>
              <a:rPr lang="tr-TR" sz="2500" dirty="0">
                <a:latin typeface="Times New Roman" panose="02020603050405020304" pitchFamily="18" charset="0"/>
                <a:cs typeface="Times New Roman" panose="02020603050405020304" pitchFamily="18" charset="0"/>
              </a:rPr>
              <a:t>:</a:t>
            </a:r>
          </a:p>
        </p:txBody>
      </p:sp>
      <p:sp>
        <p:nvSpPr>
          <p:cNvPr id="3" name="İçerik Yer Tutucusu 2">
            <a:extLst>
              <a:ext uri="{FF2B5EF4-FFF2-40B4-BE49-F238E27FC236}">
                <a16:creationId xmlns:a16="http://schemas.microsoft.com/office/drawing/2014/main" id="{950AC85C-2800-BEC9-4C28-D7B90A322B9F}"/>
              </a:ext>
            </a:extLst>
          </p:cNvPr>
          <p:cNvSpPr>
            <a:spLocks noGrp="1"/>
          </p:cNvSpPr>
          <p:nvPr>
            <p:ph idx="1"/>
          </p:nvPr>
        </p:nvSpPr>
        <p:spPr/>
        <p:txBody>
          <a:bodyPr/>
          <a:lstStyle/>
          <a:p>
            <a:r>
              <a:rPr lang="en-US" sz="1800" dirty="0">
                <a:effectLst/>
                <a:latin typeface="Times New Roman" panose="02020603050405020304" pitchFamily="18" charset="0"/>
                <a:ea typeface="Aptos" panose="020B0004020202020204" pitchFamily="34" charset="0"/>
              </a:rPr>
              <a:t> Furthermore, to enhance more powerful models, several new features were found. A new variable created to capture interactions between different metrics, such as the product of point per game (ppg) and field goal percentage (</a:t>
            </a:r>
            <a:r>
              <a:rPr lang="en-US" sz="1800" dirty="0" err="1">
                <a:effectLst/>
                <a:latin typeface="Times New Roman" panose="02020603050405020304" pitchFamily="18" charset="0"/>
                <a:ea typeface="Aptos" panose="020B0004020202020204" pitchFamily="34" charset="0"/>
              </a:rPr>
              <a:t>fg</a:t>
            </a:r>
            <a:r>
              <a:rPr lang="en-US" sz="1800" dirty="0">
                <a:effectLst/>
                <a:latin typeface="Times New Roman" panose="02020603050405020304" pitchFamily="18" charset="0"/>
                <a:ea typeface="Aptos" panose="020B0004020202020204" pitchFamily="34" charset="0"/>
              </a:rPr>
              <a:t>%). In addition, polynomial transformation of “ppg” and “</a:t>
            </a:r>
            <a:r>
              <a:rPr lang="en-US" sz="1800" dirty="0" err="1">
                <a:effectLst/>
                <a:latin typeface="Times New Roman" panose="02020603050405020304" pitchFamily="18" charset="0"/>
                <a:ea typeface="Aptos" panose="020B0004020202020204" pitchFamily="34" charset="0"/>
              </a:rPr>
              <a:t>apg</a:t>
            </a:r>
            <a:r>
              <a:rPr lang="en-US" sz="1800" dirty="0">
                <a:effectLst/>
                <a:latin typeface="Times New Roman" panose="02020603050405020304" pitchFamily="18" charset="0"/>
                <a:ea typeface="Aptos" panose="020B0004020202020204" pitchFamily="34" charset="0"/>
              </a:rPr>
              <a:t>” were implemented to include non-linear relationship in the models. These new features help us look from another direction on the offensive metrics of the statistics.</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endParaRPr lang="tr-TR" sz="1800" dirty="0">
              <a:effectLst/>
              <a:latin typeface="Aptos" panose="020B0004020202020204" pitchFamily="34" charset="0"/>
              <a:ea typeface="Aptos" panose="020B0004020202020204" pitchFamily="34" charset="0"/>
              <a:cs typeface="Times New Roman" panose="02020603050405020304" pitchFamily="18" charset="0"/>
            </a:endParaRPr>
          </a:p>
          <a:p>
            <a:endParaRPr lang="tr-TR" dirty="0"/>
          </a:p>
        </p:txBody>
      </p:sp>
      <p:pic>
        <p:nvPicPr>
          <p:cNvPr id="4" name="Resim 3" descr="metin, ekran görüntüsü, yazı tipi içeren bir resim&#10;&#10;Açıklama otomatik olarak oluşturuldu">
            <a:extLst>
              <a:ext uri="{FF2B5EF4-FFF2-40B4-BE49-F238E27FC236}">
                <a16:creationId xmlns:a16="http://schemas.microsoft.com/office/drawing/2014/main" id="{CEEE2251-67B2-D6CD-FC05-676E38C1AA9C}"/>
              </a:ext>
            </a:extLst>
          </p:cNvPr>
          <p:cNvPicPr>
            <a:picLocks noChangeAspect="1"/>
          </p:cNvPicPr>
          <p:nvPr/>
        </p:nvPicPr>
        <p:blipFill>
          <a:blip r:embed="rId2"/>
          <a:stretch>
            <a:fillRect/>
          </a:stretch>
        </p:blipFill>
        <p:spPr>
          <a:xfrm>
            <a:off x="1122436" y="3415749"/>
            <a:ext cx="6958608" cy="969438"/>
          </a:xfrm>
          <a:prstGeom prst="rect">
            <a:avLst/>
          </a:prstGeom>
        </p:spPr>
      </p:pic>
    </p:spTree>
    <p:extLst>
      <p:ext uri="{BB962C8B-B14F-4D97-AF65-F5344CB8AC3E}">
        <p14:creationId xmlns:p14="http://schemas.microsoft.com/office/powerpoint/2010/main" val="623711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B1DE420-516D-844C-BA9A-55D392273C97}"/>
              </a:ext>
            </a:extLst>
          </p:cNvPr>
          <p:cNvSpPr>
            <a:spLocks noGrp="1"/>
          </p:cNvSpPr>
          <p:nvPr>
            <p:ph type="title"/>
          </p:nvPr>
        </p:nvSpPr>
        <p:spPr/>
        <p:txBody>
          <a:bodyPr>
            <a:normAutofit fontScale="90000"/>
          </a:bodyPr>
          <a:lstStyle/>
          <a:p>
            <a:pPr algn="l"/>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Training and Testing</a:t>
            </a:r>
            <a:r>
              <a:rPr lang="tr-TR" sz="2800" kern="100" dirty="0">
                <a:effectLst/>
                <a:latin typeface="Times New Roman" panose="02020603050405020304" pitchFamily="18" charset="0"/>
                <a:ea typeface="Aptos" panose="020B0004020202020204" pitchFamily="34" charset="0"/>
                <a:cs typeface="Times New Roman" panose="02020603050405020304" pitchFamily="18" charset="0"/>
              </a:rPr>
              <a:t>:</a:t>
            </a:r>
            <a:br>
              <a:rPr lang="tr-TR" sz="1800" kern="100" dirty="0">
                <a:effectLst/>
                <a:latin typeface="Aptos" panose="020B0004020202020204" pitchFamily="34" charset="0"/>
                <a:ea typeface="Aptos" panose="020B0004020202020204" pitchFamily="34" charset="0"/>
                <a:cs typeface="Times New Roman" panose="02020603050405020304" pitchFamily="18" charset="0"/>
              </a:rPr>
            </a:br>
            <a:endParaRPr lang="tr-TR" dirty="0"/>
          </a:p>
        </p:txBody>
      </p:sp>
      <p:sp>
        <p:nvSpPr>
          <p:cNvPr id="3" name="İçerik Yer Tutucusu 2">
            <a:extLst>
              <a:ext uri="{FF2B5EF4-FFF2-40B4-BE49-F238E27FC236}">
                <a16:creationId xmlns:a16="http://schemas.microsoft.com/office/drawing/2014/main" id="{C97707A9-5AFE-582A-92BE-DE9D3F092C32}"/>
              </a:ext>
            </a:extLst>
          </p:cNvPr>
          <p:cNvSpPr>
            <a:spLocks noGrp="1"/>
          </p:cNvSpPr>
          <p:nvPr>
            <p:ph idx="1"/>
          </p:nvPr>
        </p:nvSpPr>
        <p:spPr/>
        <p:txBody>
          <a:bodyPr/>
          <a:lstStyle/>
          <a:p>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For the training and testing part, the dataset was split into two  training sets: east players and west players to ensure that models are generalizable. Also a training model for the whole dataset has constructed.</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tr-TR" dirty="0"/>
          </a:p>
        </p:txBody>
      </p:sp>
      <p:pic>
        <p:nvPicPr>
          <p:cNvPr id="4" name="Resim 3" descr="metin, ekran görüntüsü, yazı tipi içeren bir resim&#10;&#10;Açıklama otomatik olarak oluşturuldu">
            <a:extLst>
              <a:ext uri="{FF2B5EF4-FFF2-40B4-BE49-F238E27FC236}">
                <a16:creationId xmlns:a16="http://schemas.microsoft.com/office/drawing/2014/main" id="{AE842DF8-6955-5950-E977-9AD3DFBC370C}"/>
              </a:ext>
            </a:extLst>
          </p:cNvPr>
          <p:cNvPicPr>
            <a:picLocks noChangeAspect="1"/>
          </p:cNvPicPr>
          <p:nvPr/>
        </p:nvPicPr>
        <p:blipFill>
          <a:blip r:embed="rId2"/>
          <a:stretch>
            <a:fillRect/>
          </a:stretch>
        </p:blipFill>
        <p:spPr>
          <a:xfrm>
            <a:off x="924443" y="2588577"/>
            <a:ext cx="6191176" cy="1806442"/>
          </a:xfrm>
          <a:prstGeom prst="rect">
            <a:avLst/>
          </a:prstGeom>
        </p:spPr>
      </p:pic>
    </p:spTree>
    <p:extLst>
      <p:ext uri="{BB962C8B-B14F-4D97-AF65-F5344CB8AC3E}">
        <p14:creationId xmlns:p14="http://schemas.microsoft.com/office/powerpoint/2010/main" val="3666024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A8DD934-8428-BBF0-58A0-525036576149}"/>
              </a:ext>
            </a:extLst>
          </p:cNvPr>
          <p:cNvSpPr>
            <a:spLocks noGrp="1"/>
          </p:cNvSpPr>
          <p:nvPr>
            <p:ph type="title"/>
          </p:nvPr>
        </p:nvSpPr>
        <p:spPr>
          <a:xfrm>
            <a:off x="982621" y="167148"/>
            <a:ext cx="10353762" cy="970450"/>
          </a:xfrm>
        </p:spPr>
        <p:txBody>
          <a:bodyPr>
            <a:normAutofit/>
          </a:bodyPr>
          <a:lstStyle/>
          <a:p>
            <a:pPr algn="l"/>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Training and Testing</a:t>
            </a:r>
            <a:r>
              <a:rPr lang="tr-TR" sz="2500" kern="100" dirty="0">
                <a:effectLst/>
                <a:latin typeface="Times New Roman" panose="02020603050405020304" pitchFamily="18" charset="0"/>
                <a:ea typeface="Aptos" panose="020B0004020202020204" pitchFamily="34" charset="0"/>
                <a:cs typeface="Times New Roman" panose="02020603050405020304" pitchFamily="18" charset="0"/>
              </a:rPr>
              <a:t>:</a:t>
            </a:r>
            <a:br>
              <a:rPr lang="tr-TR" sz="2500" kern="100" dirty="0">
                <a:effectLst/>
                <a:latin typeface="Aptos" panose="020B0004020202020204" pitchFamily="34" charset="0"/>
                <a:ea typeface="Aptos" panose="020B0004020202020204" pitchFamily="34" charset="0"/>
                <a:cs typeface="Times New Roman" panose="02020603050405020304" pitchFamily="18" charset="0"/>
              </a:rPr>
            </a:br>
            <a:endParaRPr lang="tr-TR" sz="2500" dirty="0"/>
          </a:p>
        </p:txBody>
      </p:sp>
      <p:sp>
        <p:nvSpPr>
          <p:cNvPr id="3" name="İçerik Yer Tutucusu 2">
            <a:extLst>
              <a:ext uri="{FF2B5EF4-FFF2-40B4-BE49-F238E27FC236}">
                <a16:creationId xmlns:a16="http://schemas.microsoft.com/office/drawing/2014/main" id="{9B9F3FB3-8179-FAD5-3BA3-96ED1E7D5DD2}"/>
              </a:ext>
            </a:extLst>
          </p:cNvPr>
          <p:cNvSpPr>
            <a:spLocks noGrp="1"/>
          </p:cNvSpPr>
          <p:nvPr>
            <p:ph idx="1"/>
          </p:nvPr>
        </p:nvSpPr>
        <p:spPr>
          <a:xfrm>
            <a:off x="913795" y="3807055"/>
            <a:ext cx="10353762" cy="4058751"/>
          </a:xfrm>
        </p:spPr>
        <p:txBody>
          <a:bodyPr/>
          <a:lstStyle/>
          <a:p>
            <a:pPr>
              <a:lnSpc>
                <a:spcPct val="107000"/>
              </a:lnSpc>
              <a:spcAft>
                <a:spcPts val="800"/>
              </a:spcAft>
            </a:pP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train_test_split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This function is used to split the dataset into training and testing subsets. The parameter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test_size</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=0.3 specifies that 30% of the data will be used for testing while the rest is used for training. </a:t>
            </a:r>
            <a:endParaRPr lang="tr-TR" sz="13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LogisticRegression</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Logistic regression is a data analysis technique that uses mathematics to find the relationships between two data factors. It then uses this relationship to predict the value of one of those factors based on the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other.model.fit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X_train</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y_train</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It trains the model using the training data.</a:t>
            </a:r>
            <a:endParaRPr lang="tr-TR" sz="13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y_pred</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model.predict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X_test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It makes predictions using the test data.</a:t>
            </a:r>
            <a:endParaRPr lang="tr-TR" sz="13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classification_report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y_test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y_pred</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This report evaluates the classification performance of the model. It includes metrics such as accuracy, precision, true positives, and true negatives.</a:t>
            </a:r>
            <a:endParaRPr lang="tr-TR" sz="13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This code splits the data into training and testing subsets, trains a model using Logistic Regression, evaluates this model on the test data, and reports the results using the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classification_report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These results are used to measure the model's classification ability. </a:t>
            </a:r>
            <a:endParaRPr lang="tr-TR" sz="13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tr-TR" dirty="0"/>
          </a:p>
        </p:txBody>
      </p:sp>
      <p:pic>
        <p:nvPicPr>
          <p:cNvPr id="5" name="Resim 4" descr="metin, ekran görüntüsü, yazı tipi içeren bir resim&#10;&#10;Açıklama otomatik olarak oluşturuldu">
            <a:extLst>
              <a:ext uri="{FF2B5EF4-FFF2-40B4-BE49-F238E27FC236}">
                <a16:creationId xmlns:a16="http://schemas.microsoft.com/office/drawing/2014/main" id="{CE3A232D-A76E-0ABF-0F9A-6F60DBC9680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82621" y="782263"/>
            <a:ext cx="6033355" cy="3024792"/>
          </a:xfrm>
          <a:prstGeom prst="rect">
            <a:avLst/>
          </a:prstGeom>
          <a:noFill/>
          <a:ln>
            <a:noFill/>
          </a:ln>
        </p:spPr>
      </p:pic>
      <p:pic>
        <p:nvPicPr>
          <p:cNvPr id="6" name="İçerik Yer Tutucusu 4">
            <a:extLst>
              <a:ext uri="{FF2B5EF4-FFF2-40B4-BE49-F238E27FC236}">
                <a16:creationId xmlns:a16="http://schemas.microsoft.com/office/drawing/2014/main" id="{E0F0973F-F4AF-B793-E856-7CD91756553A}"/>
              </a:ext>
            </a:extLst>
          </p:cNvPr>
          <p:cNvPicPr>
            <a:picLocks noChangeAspect="1"/>
          </p:cNvPicPr>
          <p:nvPr/>
        </p:nvPicPr>
        <p:blipFill>
          <a:blip r:embed="rId3"/>
          <a:stretch>
            <a:fillRect/>
          </a:stretch>
        </p:blipFill>
        <p:spPr>
          <a:xfrm>
            <a:off x="7909177" y="837518"/>
            <a:ext cx="2553056" cy="600159"/>
          </a:xfrm>
          <a:prstGeom prst="rect">
            <a:avLst/>
          </a:prstGeom>
          <a:effectLst>
            <a:outerShdw blurRad="25400" dir="17880000">
              <a:srgbClr val="000000">
                <a:alpha val="46000"/>
              </a:srgbClr>
            </a:outerShdw>
          </a:effectLst>
        </p:spPr>
      </p:pic>
      <p:pic>
        <p:nvPicPr>
          <p:cNvPr id="8" name="Resim 7">
            <a:extLst>
              <a:ext uri="{FF2B5EF4-FFF2-40B4-BE49-F238E27FC236}">
                <a16:creationId xmlns:a16="http://schemas.microsoft.com/office/drawing/2014/main" id="{D43B9FD1-E7AB-8007-DCCD-020B3DADF094}"/>
              </a:ext>
            </a:extLst>
          </p:cNvPr>
          <p:cNvPicPr>
            <a:picLocks noChangeAspect="1"/>
          </p:cNvPicPr>
          <p:nvPr/>
        </p:nvPicPr>
        <p:blipFill>
          <a:blip r:embed="rId4"/>
          <a:stretch>
            <a:fillRect/>
          </a:stretch>
        </p:blipFill>
        <p:spPr>
          <a:xfrm>
            <a:off x="7909177" y="1785163"/>
            <a:ext cx="2534004" cy="619211"/>
          </a:xfrm>
          <a:prstGeom prst="rect">
            <a:avLst/>
          </a:prstGeom>
        </p:spPr>
      </p:pic>
    </p:spTree>
    <p:extLst>
      <p:ext uri="{BB962C8B-B14F-4D97-AF65-F5344CB8AC3E}">
        <p14:creationId xmlns:p14="http://schemas.microsoft.com/office/powerpoint/2010/main" val="667169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E34925-A275-8135-6292-B523657BABBA}"/>
              </a:ext>
            </a:extLst>
          </p:cNvPr>
          <p:cNvSpPr>
            <a:spLocks noGrp="1"/>
          </p:cNvSpPr>
          <p:nvPr>
            <p:ph type="title"/>
          </p:nvPr>
        </p:nvSpPr>
        <p:spPr/>
        <p:txBody>
          <a:bodyPr>
            <a:normAutofit/>
          </a:bodyPr>
          <a:lstStyle/>
          <a:p>
            <a:pPr algn="l"/>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Hyperparameter Tuning</a:t>
            </a:r>
            <a:br>
              <a:rPr lang="tr-TR" sz="2500" kern="100" dirty="0">
                <a:effectLst/>
                <a:latin typeface="Aptos" panose="020B0004020202020204" pitchFamily="34" charset="0"/>
                <a:ea typeface="Aptos" panose="020B0004020202020204" pitchFamily="34" charset="0"/>
                <a:cs typeface="Times New Roman" panose="02020603050405020304" pitchFamily="18" charset="0"/>
              </a:rPr>
            </a:br>
            <a:endParaRPr lang="tr-TR" sz="2500" dirty="0"/>
          </a:p>
        </p:txBody>
      </p:sp>
      <p:sp>
        <p:nvSpPr>
          <p:cNvPr id="7" name="İçerik Yer Tutucusu 6">
            <a:extLst>
              <a:ext uri="{FF2B5EF4-FFF2-40B4-BE49-F238E27FC236}">
                <a16:creationId xmlns:a16="http://schemas.microsoft.com/office/drawing/2014/main" id="{0D5385F0-AEEB-E9D9-545B-22EB29DAEE7D}"/>
              </a:ext>
            </a:extLst>
          </p:cNvPr>
          <p:cNvSpPr>
            <a:spLocks noGrp="1"/>
          </p:cNvSpPr>
          <p:nvPr>
            <p:ph idx="1"/>
          </p:nvPr>
        </p:nvSpPr>
        <p:spPr/>
        <p:txBody>
          <a:bodyPr/>
          <a:lstStyle/>
          <a:p>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this project, hyperparameter tuning was conducted by using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GridSearchSV</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to reach the optimal settings for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RandomForestClassifier</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making sure that various metrics could be performed effectively.</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tr-TR" dirty="0"/>
          </a:p>
        </p:txBody>
      </p:sp>
      <p:pic>
        <p:nvPicPr>
          <p:cNvPr id="8" name="Resim 7" descr="metin, ekran görüntüsü içeren bir resim&#10;&#10;Açıklama otomatik olarak oluşturuldu">
            <a:extLst>
              <a:ext uri="{FF2B5EF4-FFF2-40B4-BE49-F238E27FC236}">
                <a16:creationId xmlns:a16="http://schemas.microsoft.com/office/drawing/2014/main" id="{F5946619-D088-87B4-4F59-AD03E35D92AF}"/>
              </a:ext>
            </a:extLst>
          </p:cNvPr>
          <p:cNvPicPr>
            <a:picLocks noChangeAspect="1"/>
          </p:cNvPicPr>
          <p:nvPr/>
        </p:nvPicPr>
        <p:blipFill>
          <a:blip r:embed="rId2"/>
          <a:stretch>
            <a:fillRect/>
          </a:stretch>
        </p:blipFill>
        <p:spPr>
          <a:xfrm>
            <a:off x="1003101" y="2403987"/>
            <a:ext cx="6498912" cy="4305905"/>
          </a:xfrm>
          <a:prstGeom prst="rect">
            <a:avLst/>
          </a:prstGeom>
        </p:spPr>
      </p:pic>
    </p:spTree>
    <p:extLst>
      <p:ext uri="{BB962C8B-B14F-4D97-AF65-F5344CB8AC3E}">
        <p14:creationId xmlns:p14="http://schemas.microsoft.com/office/powerpoint/2010/main" val="1901929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E84875-24C6-C0FD-797B-B32E5644FF1F}"/>
              </a:ext>
            </a:extLst>
          </p:cNvPr>
          <p:cNvSpPr>
            <a:spLocks noGrp="1"/>
          </p:cNvSpPr>
          <p:nvPr>
            <p:ph type="title"/>
          </p:nvPr>
        </p:nvSpPr>
        <p:spPr/>
        <p:txBody>
          <a:bodyPr>
            <a:normAutofit/>
          </a:bodyPr>
          <a:lstStyle/>
          <a:p>
            <a:pPr algn="l"/>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Cro</a:t>
            </a:r>
            <a:r>
              <a:rPr lang="tr-TR" sz="2500" kern="100" dirty="0" err="1">
                <a:effectLst/>
                <a:latin typeface="Times New Roman" panose="02020603050405020304" pitchFamily="18" charset="0"/>
                <a:ea typeface="Aptos" panose="020B0004020202020204" pitchFamily="34" charset="0"/>
                <a:cs typeface="Times New Roman" panose="02020603050405020304" pitchFamily="18" charset="0"/>
              </a:rPr>
              <a:t>ss</a:t>
            </a:r>
            <a:r>
              <a:rPr lang="tr-TR" sz="25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tr-TR" sz="2500" kern="100" dirty="0" err="1">
                <a:effectLst/>
                <a:latin typeface="Times New Roman" panose="02020603050405020304" pitchFamily="18" charset="0"/>
                <a:ea typeface="Aptos" panose="020B0004020202020204" pitchFamily="34" charset="0"/>
                <a:cs typeface="Times New Roman" panose="02020603050405020304" pitchFamily="18" charset="0"/>
              </a:rPr>
              <a:t>Val</a:t>
            </a:r>
            <a:r>
              <a:rPr lang="en-US" sz="2500" kern="100" dirty="0" err="1">
                <a:effectLst/>
                <a:latin typeface="Times New Roman" panose="02020603050405020304" pitchFamily="18" charset="0"/>
                <a:ea typeface="Aptos" panose="020B0004020202020204" pitchFamily="34" charset="0"/>
                <a:cs typeface="Times New Roman" panose="02020603050405020304" pitchFamily="18" charset="0"/>
              </a:rPr>
              <a:t>idations</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 :</a:t>
            </a:r>
            <a:br>
              <a:rPr lang="tr-TR" sz="2500" kern="100" dirty="0">
                <a:effectLst/>
                <a:latin typeface="Times New Roman" panose="02020603050405020304" pitchFamily="18" charset="0"/>
                <a:ea typeface="Aptos" panose="020B0004020202020204" pitchFamily="34" charset="0"/>
                <a:cs typeface="Times New Roman" panose="02020603050405020304" pitchFamily="18" charset="0"/>
              </a:rPr>
            </a:br>
            <a:endParaRPr lang="tr-TR" sz="2500" dirty="0">
              <a:latin typeface="Times New Roman" panose="02020603050405020304" pitchFamily="18" charset="0"/>
              <a:cs typeface="Times New Roman" panose="02020603050405020304" pitchFamily="18" charset="0"/>
            </a:endParaRPr>
          </a:p>
        </p:txBody>
      </p:sp>
      <p:sp>
        <p:nvSpPr>
          <p:cNvPr id="3" name="İçerik Yer Tutucusu 2">
            <a:extLst>
              <a:ext uri="{FF2B5EF4-FFF2-40B4-BE49-F238E27FC236}">
                <a16:creationId xmlns:a16="http://schemas.microsoft.com/office/drawing/2014/main" id="{71EC5234-3296-02CE-E9F8-70022A88CC0C}"/>
              </a:ext>
            </a:extLst>
          </p:cNvPr>
          <p:cNvSpPr>
            <a:spLocks noGrp="1"/>
          </p:cNvSpPr>
          <p:nvPr>
            <p:ph idx="1"/>
          </p:nvPr>
        </p:nvSpPr>
        <p:spPr/>
        <p:txBody>
          <a:bodyPr/>
          <a:lstStyle/>
          <a:p>
            <a:pPr marL="36900" indent="0">
              <a:buNone/>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K-Fold</a:t>
            </a:r>
            <a:endParaRPr lang="tr-TR"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This method partitions the data into 5 splits and uses 1 subset for testing and remaining 4 for training. This technique helps to asses the model’s performance across different subsets of dataset, providing information about dataset’s consistency and stability.</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tr-TR" dirty="0"/>
          </a:p>
        </p:txBody>
      </p:sp>
      <p:pic>
        <p:nvPicPr>
          <p:cNvPr id="4" name="Resim 3" descr="metin, ekran görüntüsü, yazı tipi içeren bir resim&#10;&#10;Açıklama otomatik olarak oluşturuldu">
            <a:extLst>
              <a:ext uri="{FF2B5EF4-FFF2-40B4-BE49-F238E27FC236}">
                <a16:creationId xmlns:a16="http://schemas.microsoft.com/office/drawing/2014/main" id="{A4E8F28F-318A-7AC6-F7D4-01C0BE3F1F61}"/>
              </a:ext>
            </a:extLst>
          </p:cNvPr>
          <p:cNvPicPr>
            <a:picLocks noChangeAspect="1"/>
          </p:cNvPicPr>
          <p:nvPr/>
        </p:nvPicPr>
        <p:blipFill>
          <a:blip r:embed="rId2"/>
          <a:stretch>
            <a:fillRect/>
          </a:stretch>
        </p:blipFill>
        <p:spPr>
          <a:xfrm>
            <a:off x="1140541" y="3097787"/>
            <a:ext cx="6770786" cy="3027710"/>
          </a:xfrm>
          <a:prstGeom prst="rect">
            <a:avLst/>
          </a:prstGeom>
        </p:spPr>
      </p:pic>
    </p:spTree>
    <p:extLst>
      <p:ext uri="{BB962C8B-B14F-4D97-AF65-F5344CB8AC3E}">
        <p14:creationId xmlns:p14="http://schemas.microsoft.com/office/powerpoint/2010/main" val="983003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4C48DFF-FF07-8D60-1588-96745B2F3E0F}"/>
              </a:ext>
            </a:extLst>
          </p:cNvPr>
          <p:cNvSpPr>
            <a:spLocks noGrp="1"/>
          </p:cNvSpPr>
          <p:nvPr>
            <p:ph type="title"/>
          </p:nvPr>
        </p:nvSpPr>
        <p:spPr/>
        <p:txBody>
          <a:bodyPr>
            <a:normAutofit/>
          </a:bodyPr>
          <a:lstStyle/>
          <a:p>
            <a:pPr algn="l"/>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Leave-One-Out Cross Validation</a:t>
            </a:r>
            <a:br>
              <a:rPr lang="tr-TR" sz="2500" kern="100" dirty="0">
                <a:effectLst/>
                <a:latin typeface="Times New Roman" panose="02020603050405020304" pitchFamily="18" charset="0"/>
                <a:ea typeface="Aptos" panose="020B0004020202020204" pitchFamily="34" charset="0"/>
                <a:cs typeface="Times New Roman" panose="02020603050405020304" pitchFamily="18" charset="0"/>
              </a:rPr>
            </a:br>
            <a:endParaRPr lang="tr-TR" sz="2500" dirty="0">
              <a:latin typeface="Times New Roman" panose="02020603050405020304" pitchFamily="18" charset="0"/>
              <a:cs typeface="Times New Roman" panose="02020603050405020304" pitchFamily="18" charset="0"/>
            </a:endParaRPr>
          </a:p>
        </p:txBody>
      </p:sp>
      <p:sp>
        <p:nvSpPr>
          <p:cNvPr id="3" name="İçerik Yer Tutucusu 2">
            <a:extLst>
              <a:ext uri="{FF2B5EF4-FFF2-40B4-BE49-F238E27FC236}">
                <a16:creationId xmlns:a16="http://schemas.microsoft.com/office/drawing/2014/main" id="{1E5FD7AD-E3B9-99E2-E213-AC66FD5E938B}"/>
              </a:ext>
            </a:extLst>
          </p:cNvPr>
          <p:cNvSpPr>
            <a:spLocks noGrp="1"/>
          </p:cNvSpPr>
          <p:nvPr>
            <p:ph idx="1"/>
          </p:nvPr>
        </p:nvSpPr>
        <p:spPr/>
        <p:txBody>
          <a:bodyPr/>
          <a:lstStyle/>
          <a:p>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For a more precise validation, Leave-One-Out (LOO) validation was conducted. LOO uses each data point as a single test case and remainder of the dataset as a training set. This method provides a detailed view of the model’s performance on an individual level.</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tr-TR" dirty="0"/>
          </a:p>
        </p:txBody>
      </p:sp>
      <p:pic>
        <p:nvPicPr>
          <p:cNvPr id="4" name="Resim 3" descr="metin, ekran görüntüsü, yazı tipi içeren bir resim&#10;&#10;Açıklama otomatik olarak oluşturuldu">
            <a:extLst>
              <a:ext uri="{FF2B5EF4-FFF2-40B4-BE49-F238E27FC236}">
                <a16:creationId xmlns:a16="http://schemas.microsoft.com/office/drawing/2014/main" id="{B53B43C5-BD46-4EC9-0FB3-C27EA35BCA97}"/>
              </a:ext>
            </a:extLst>
          </p:cNvPr>
          <p:cNvPicPr>
            <a:picLocks noChangeAspect="1"/>
          </p:cNvPicPr>
          <p:nvPr/>
        </p:nvPicPr>
        <p:blipFill>
          <a:blip r:embed="rId2"/>
          <a:stretch>
            <a:fillRect/>
          </a:stretch>
        </p:blipFill>
        <p:spPr>
          <a:xfrm>
            <a:off x="1313711" y="2806149"/>
            <a:ext cx="6236395" cy="2788406"/>
          </a:xfrm>
          <a:prstGeom prst="rect">
            <a:avLst/>
          </a:prstGeom>
        </p:spPr>
      </p:pic>
    </p:spTree>
    <p:extLst>
      <p:ext uri="{BB962C8B-B14F-4D97-AF65-F5344CB8AC3E}">
        <p14:creationId xmlns:p14="http://schemas.microsoft.com/office/powerpoint/2010/main" val="16951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9D5A556-956F-9D07-EDBC-9312C95D9410}"/>
              </a:ext>
            </a:extLst>
          </p:cNvPr>
          <p:cNvSpPr>
            <a:spLocks noGrp="1"/>
          </p:cNvSpPr>
          <p:nvPr>
            <p:ph type="title"/>
          </p:nvPr>
        </p:nvSpPr>
        <p:spPr/>
        <p:txBody>
          <a:bodyPr>
            <a:normAutofit fontScale="90000"/>
          </a:bodyPr>
          <a:lstStyle/>
          <a:p>
            <a:pPr algn="l"/>
            <a:r>
              <a:rPr lang="en-US" sz="3300" kern="100" dirty="0">
                <a:effectLst/>
                <a:latin typeface="Times New Roman" panose="02020603050405020304" pitchFamily="18" charset="0"/>
                <a:ea typeface="Aptos" panose="020B0004020202020204" pitchFamily="34" charset="0"/>
                <a:cs typeface="Times New Roman" panose="02020603050405020304" pitchFamily="18" charset="0"/>
              </a:rPr>
              <a:t>4-Experimental results</a:t>
            </a:r>
            <a:br>
              <a:rPr lang="tr-TR" sz="1800" kern="100" dirty="0">
                <a:effectLst/>
                <a:latin typeface="Aptos" panose="020B0004020202020204" pitchFamily="34" charset="0"/>
                <a:ea typeface="Aptos" panose="020B0004020202020204" pitchFamily="34" charset="0"/>
                <a:cs typeface="Times New Roman" panose="02020603050405020304" pitchFamily="18" charset="0"/>
              </a:rPr>
            </a:br>
            <a:endParaRPr lang="tr-TR" dirty="0"/>
          </a:p>
        </p:txBody>
      </p:sp>
      <p:sp>
        <p:nvSpPr>
          <p:cNvPr id="3" name="İçerik Yer Tutucusu 2">
            <a:extLst>
              <a:ext uri="{FF2B5EF4-FFF2-40B4-BE49-F238E27FC236}">
                <a16:creationId xmlns:a16="http://schemas.microsoft.com/office/drawing/2014/main" id="{3BA7F144-0865-2E66-D7A4-CF2BCF16D916}"/>
              </a:ext>
            </a:extLst>
          </p:cNvPr>
          <p:cNvSpPr>
            <a:spLocks noGrp="1"/>
          </p:cNvSpPr>
          <p:nvPr>
            <p:ph idx="1"/>
          </p:nvPr>
        </p:nvSpPr>
        <p:spPr/>
        <p:txBody>
          <a:bodyPr/>
          <a:lstStyle/>
          <a:p>
            <a:pPr marL="36900" indent="0">
              <a:buNone/>
            </a:pP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All players Test Result</a:t>
            </a:r>
            <a:r>
              <a:rPr lang="tr-TR" sz="25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East</a:t>
            </a:r>
            <a:r>
              <a:rPr lang="tr-TR" sz="2500" kern="100" dirty="0">
                <a:effectLst/>
                <a:latin typeface="Times New Roman" panose="02020603050405020304" pitchFamily="18" charset="0"/>
                <a:ea typeface="Aptos" panose="020B0004020202020204" pitchFamily="34" charset="0"/>
                <a:cs typeface="Times New Roman" panose="02020603050405020304" pitchFamily="18" charset="0"/>
              </a:rPr>
              <a:t>&amp;West</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 players Test Result</a:t>
            </a:r>
            <a:endParaRPr lang="tr-TR" sz="2500" kern="100" dirty="0">
              <a:effectLst/>
              <a:latin typeface="Aptos" panose="020B0004020202020204" pitchFamily="34" charset="0"/>
              <a:ea typeface="Aptos" panose="020B0004020202020204" pitchFamily="34" charset="0"/>
              <a:cs typeface="Times New Roman" panose="02020603050405020304" pitchFamily="18" charset="0"/>
            </a:endParaRPr>
          </a:p>
          <a:p>
            <a:pPr marL="36900" indent="0">
              <a:buNone/>
            </a:pPr>
            <a:endParaRPr lang="tr-TR" sz="2500" kern="100" dirty="0">
              <a:effectLst/>
              <a:latin typeface="Aptos" panose="020B0004020202020204" pitchFamily="34" charset="0"/>
              <a:ea typeface="Aptos" panose="020B0004020202020204" pitchFamily="34" charset="0"/>
              <a:cs typeface="Times New Roman" panose="02020603050405020304" pitchFamily="18" charset="0"/>
            </a:endParaRPr>
          </a:p>
          <a:p>
            <a:pPr marL="36900" indent="0">
              <a:buNone/>
            </a:pPr>
            <a:endParaRPr lang="tr-TR" dirty="0"/>
          </a:p>
        </p:txBody>
      </p:sp>
      <p:pic>
        <p:nvPicPr>
          <p:cNvPr id="4" name="Resim 3" descr="metin, ekran görüntüsü, yazı tipi, sayı, numara içeren bir resim&#10;&#10;Açıklama otomatik olarak oluşturuldu">
            <a:extLst>
              <a:ext uri="{FF2B5EF4-FFF2-40B4-BE49-F238E27FC236}">
                <a16:creationId xmlns:a16="http://schemas.microsoft.com/office/drawing/2014/main" id="{82098829-BBC0-48E8-7C97-83B8CE4949C7}"/>
              </a:ext>
            </a:extLst>
          </p:cNvPr>
          <p:cNvPicPr>
            <a:picLocks noChangeAspect="1"/>
          </p:cNvPicPr>
          <p:nvPr/>
        </p:nvPicPr>
        <p:blipFill>
          <a:blip r:embed="rId2"/>
          <a:stretch>
            <a:fillRect/>
          </a:stretch>
        </p:blipFill>
        <p:spPr>
          <a:xfrm>
            <a:off x="924443" y="2391902"/>
            <a:ext cx="4404360" cy="1739900"/>
          </a:xfrm>
          <a:prstGeom prst="rect">
            <a:avLst/>
          </a:prstGeom>
        </p:spPr>
      </p:pic>
      <p:pic>
        <p:nvPicPr>
          <p:cNvPr id="5" name="Resim 4" descr="metin, ekran görüntüsü, yazı tipi, sayı, numara içeren bir resim&#10;&#10;Açıklama otomatik olarak oluşturuldu">
            <a:extLst>
              <a:ext uri="{FF2B5EF4-FFF2-40B4-BE49-F238E27FC236}">
                <a16:creationId xmlns:a16="http://schemas.microsoft.com/office/drawing/2014/main" id="{EBEC84CC-D442-BE4D-527C-946CD44C6720}"/>
              </a:ext>
            </a:extLst>
          </p:cNvPr>
          <p:cNvPicPr>
            <a:picLocks noChangeAspect="1"/>
          </p:cNvPicPr>
          <p:nvPr/>
        </p:nvPicPr>
        <p:blipFill>
          <a:blip r:embed="rId3"/>
          <a:stretch>
            <a:fillRect/>
          </a:stretch>
        </p:blipFill>
        <p:spPr>
          <a:xfrm>
            <a:off x="6047740" y="2400792"/>
            <a:ext cx="4500880" cy="1722120"/>
          </a:xfrm>
          <a:prstGeom prst="rect">
            <a:avLst/>
          </a:prstGeom>
        </p:spPr>
      </p:pic>
      <p:pic>
        <p:nvPicPr>
          <p:cNvPr id="6" name="Resim 5" descr="metin, ekran görüntüsü, yazı tipi, sayı, numara içeren bir resim&#10;&#10;Açıklama otomatik olarak oluşturuldu">
            <a:extLst>
              <a:ext uri="{FF2B5EF4-FFF2-40B4-BE49-F238E27FC236}">
                <a16:creationId xmlns:a16="http://schemas.microsoft.com/office/drawing/2014/main" id="{1D02DD80-0C3C-C5E3-6363-896C7B30D34E}"/>
              </a:ext>
            </a:extLst>
          </p:cNvPr>
          <p:cNvPicPr>
            <a:picLocks noChangeAspect="1"/>
          </p:cNvPicPr>
          <p:nvPr/>
        </p:nvPicPr>
        <p:blipFill>
          <a:blip r:embed="rId4"/>
          <a:stretch>
            <a:fillRect/>
          </a:stretch>
        </p:blipFill>
        <p:spPr>
          <a:xfrm>
            <a:off x="6047740" y="4400428"/>
            <a:ext cx="4609102" cy="1847972"/>
          </a:xfrm>
          <a:prstGeom prst="rect">
            <a:avLst/>
          </a:prstGeom>
        </p:spPr>
      </p:pic>
    </p:spTree>
    <p:extLst>
      <p:ext uri="{BB962C8B-B14F-4D97-AF65-F5344CB8AC3E}">
        <p14:creationId xmlns:p14="http://schemas.microsoft.com/office/powerpoint/2010/main" val="987055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3D66731-B825-F1C3-EF61-87B1CF9BC2EA}"/>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BF965850-5675-3C8A-879C-C50B9FB97FFB}"/>
              </a:ext>
            </a:extLst>
          </p:cNvPr>
          <p:cNvSpPr>
            <a:spLocks noGrp="1"/>
          </p:cNvSpPr>
          <p:nvPr>
            <p:ph idx="1"/>
          </p:nvPr>
        </p:nvSpPr>
        <p:spPr/>
        <p:txBody>
          <a:bodyPr/>
          <a:lstStyle/>
          <a:p>
            <a:endParaRPr lang="tr-TR"/>
          </a:p>
        </p:txBody>
      </p:sp>
      <p:pic>
        <p:nvPicPr>
          <p:cNvPr id="5" name="Resim 4">
            <a:extLst>
              <a:ext uri="{FF2B5EF4-FFF2-40B4-BE49-F238E27FC236}">
                <a16:creationId xmlns:a16="http://schemas.microsoft.com/office/drawing/2014/main" id="{037AC1C6-5C67-B0C7-511E-4C1C9F084001}"/>
              </a:ext>
            </a:extLst>
          </p:cNvPr>
          <p:cNvPicPr>
            <a:picLocks noChangeAspect="1"/>
          </p:cNvPicPr>
          <p:nvPr/>
        </p:nvPicPr>
        <p:blipFill>
          <a:blip r:embed="rId2"/>
          <a:stretch>
            <a:fillRect/>
          </a:stretch>
        </p:blipFill>
        <p:spPr>
          <a:xfrm>
            <a:off x="804418" y="1732449"/>
            <a:ext cx="10353762" cy="4334709"/>
          </a:xfrm>
          <a:prstGeom prst="rect">
            <a:avLst/>
          </a:prstGeom>
        </p:spPr>
      </p:pic>
    </p:spTree>
    <p:extLst>
      <p:ext uri="{BB962C8B-B14F-4D97-AF65-F5344CB8AC3E}">
        <p14:creationId xmlns:p14="http://schemas.microsoft.com/office/powerpoint/2010/main" val="2608873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F690CC7-514E-9785-CA4A-DDAD98F99332}"/>
              </a:ext>
            </a:extLst>
          </p:cNvPr>
          <p:cNvSpPr>
            <a:spLocks noGrp="1"/>
          </p:cNvSpPr>
          <p:nvPr>
            <p:ph type="title"/>
          </p:nvPr>
        </p:nvSpPr>
        <p:spPr/>
        <p:txBody>
          <a:bodyPr>
            <a:noAutofit/>
          </a:bodyPr>
          <a:lstStyle/>
          <a:p>
            <a:pPr algn="l"/>
            <a:r>
              <a:rPr lang="en-US" sz="3000" kern="100" dirty="0">
                <a:effectLst/>
                <a:latin typeface="Times New Roman" panose="02020603050405020304" pitchFamily="18" charset="0"/>
                <a:ea typeface="Aptos" panose="020B0004020202020204" pitchFamily="34" charset="0"/>
                <a:cs typeface="Times New Roman" panose="02020603050405020304" pitchFamily="18" charset="0"/>
              </a:rPr>
              <a:t>5-Conclusion</a:t>
            </a:r>
            <a:br>
              <a:rPr lang="tr-TR" sz="3000" kern="100" dirty="0">
                <a:effectLst/>
                <a:latin typeface="Aptos" panose="020B0004020202020204" pitchFamily="34" charset="0"/>
                <a:ea typeface="Aptos" panose="020B0004020202020204" pitchFamily="34" charset="0"/>
                <a:cs typeface="Times New Roman" panose="02020603050405020304" pitchFamily="18" charset="0"/>
              </a:rPr>
            </a:br>
            <a:endParaRPr lang="tr-TR" sz="3000" dirty="0"/>
          </a:p>
        </p:txBody>
      </p:sp>
      <p:sp>
        <p:nvSpPr>
          <p:cNvPr id="3" name="İçerik Yer Tutucusu 2">
            <a:extLst>
              <a:ext uri="{FF2B5EF4-FFF2-40B4-BE49-F238E27FC236}">
                <a16:creationId xmlns:a16="http://schemas.microsoft.com/office/drawing/2014/main" id="{42764A8F-88A2-4241-5264-7165BB7020C9}"/>
              </a:ext>
            </a:extLst>
          </p:cNvPr>
          <p:cNvSpPr>
            <a:spLocks noGrp="1"/>
          </p:cNvSpPr>
          <p:nvPr>
            <p:ph idx="1"/>
          </p:nvPr>
        </p:nvSpPr>
        <p:spPr/>
        <p:txBody>
          <a:bodyPr/>
          <a:lstStyle/>
          <a:p>
            <a:pPr>
              <a:lnSpc>
                <a:spcPct val="107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Before starting this project, my main goal was to use machine learning to classify NBA players into performance categories based on their seasonal statistics. Along the way to succeed my goals, I’ve learned how to use traditional techniques such as and logistic regression and implement them into my project to gain results. Also, I developed a Customized Efficiency Rating (CER) that effectively identified MVP candidates and differentiated between performance levels. Hyperparameter Tuning helped optimized the models and cross-validation methods showed the model’s robustness and generalizability.</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This project helped me understand the potential of machine learning in sports analytics and how far these kinds of algorithms can affect the game of basketball in a positive way. </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825657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C4CDB7D-F2E4-1C47-AC2B-1A92187731C9}"/>
              </a:ext>
            </a:extLst>
          </p:cNvPr>
          <p:cNvSpPr>
            <a:spLocks noGrp="1"/>
          </p:cNvSpPr>
          <p:nvPr>
            <p:ph type="title"/>
          </p:nvPr>
        </p:nvSpPr>
        <p:spPr/>
        <p:txBody>
          <a:bodyPr>
            <a:normAutofit/>
          </a:bodyPr>
          <a:lstStyle/>
          <a:p>
            <a:pPr algn="l"/>
            <a:r>
              <a:rPr lang="tr-TR" sz="3000" dirty="0" err="1">
                <a:latin typeface="Times New Roman" panose="02020603050405020304" pitchFamily="18" charset="0"/>
                <a:cs typeface="Times New Roman" panose="02020603050405020304" pitchFamily="18" charset="0"/>
              </a:rPr>
              <a:t>References</a:t>
            </a:r>
            <a:r>
              <a:rPr lang="tr-TR" sz="3000" dirty="0">
                <a:latin typeface="Times New Roman" panose="02020603050405020304" pitchFamily="18" charset="0"/>
                <a:cs typeface="Times New Roman" panose="02020603050405020304" pitchFamily="18" charset="0"/>
              </a:rPr>
              <a:t>:</a:t>
            </a:r>
          </a:p>
        </p:txBody>
      </p:sp>
      <p:sp>
        <p:nvSpPr>
          <p:cNvPr id="3" name="İçerik Yer Tutucusu 2">
            <a:extLst>
              <a:ext uri="{FF2B5EF4-FFF2-40B4-BE49-F238E27FC236}">
                <a16:creationId xmlns:a16="http://schemas.microsoft.com/office/drawing/2014/main" id="{8D3FD7A7-565C-6197-C5CE-9276D98A3EE9}"/>
              </a:ext>
            </a:extLst>
          </p:cNvPr>
          <p:cNvSpPr>
            <a:spLocks noGrp="1"/>
          </p:cNvSpPr>
          <p:nvPr>
            <p:ph idx="1"/>
          </p:nvPr>
        </p:nvSpPr>
        <p:spPr/>
        <p:txBody>
          <a:bodyPr/>
          <a:lstStyle/>
          <a:p>
            <a:r>
              <a:rPr lang="tr-TR" dirty="0">
                <a:hlinkClick r:id="rId2"/>
              </a:rPr>
              <a:t>www.basketball-reference.com</a:t>
            </a:r>
            <a:endParaRPr lang="tr-TR" dirty="0"/>
          </a:p>
          <a:p>
            <a:r>
              <a:rPr lang="tr-TR" dirty="0">
                <a:hlinkClick r:id="rId3"/>
              </a:rPr>
              <a:t>www.hoopshype.com</a:t>
            </a:r>
            <a:endParaRPr lang="tr-TR" dirty="0"/>
          </a:p>
          <a:p>
            <a:pPr marL="36900" indent="0">
              <a:buNone/>
            </a:pPr>
            <a:endParaRPr lang="tr-TR" dirty="0"/>
          </a:p>
        </p:txBody>
      </p:sp>
    </p:spTree>
    <p:extLst>
      <p:ext uri="{BB962C8B-B14F-4D97-AF65-F5344CB8AC3E}">
        <p14:creationId xmlns:p14="http://schemas.microsoft.com/office/powerpoint/2010/main" val="42279610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Kurşun Rengi">
  <a:themeElements>
    <a:clrScheme name="Kurşun Rengi">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Kurşun Rengi">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urşun Rengi">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TM04033929[[fn=Kurşun Rengi]]</Template>
  <TotalTime>152</TotalTime>
  <Words>1551</Words>
  <Application>Microsoft Office PowerPoint</Application>
  <PresentationFormat>Geniş ekran</PresentationFormat>
  <Paragraphs>57</Paragraphs>
  <Slides>17</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17</vt:i4>
      </vt:variant>
    </vt:vector>
  </HeadingPairs>
  <TitlesOfParts>
    <vt:vector size="23" baseType="lpstr">
      <vt:lpstr>Aptos</vt:lpstr>
      <vt:lpstr>Calisto MT</vt:lpstr>
      <vt:lpstr>Symbol</vt:lpstr>
      <vt:lpstr>Times New Roman</vt:lpstr>
      <vt:lpstr>Wingdings 2</vt:lpstr>
      <vt:lpstr>Kurşun Rengi</vt:lpstr>
      <vt:lpstr>Scouting System for NBA Players  </vt:lpstr>
      <vt:lpstr>1-Introduction </vt:lpstr>
      <vt:lpstr>2-Dataset Description </vt:lpstr>
      <vt:lpstr>3-Methods </vt:lpstr>
      <vt:lpstr>Data Normalization: </vt:lpstr>
      <vt:lpstr>Feature Engineering: </vt:lpstr>
      <vt:lpstr>Results:</vt:lpstr>
      <vt:lpstr>Feature Engineering:</vt:lpstr>
      <vt:lpstr>Training and Testing: </vt:lpstr>
      <vt:lpstr>Training and Testing: </vt:lpstr>
      <vt:lpstr>Hyperparameter Tuning </vt:lpstr>
      <vt:lpstr>Cross Validations : </vt:lpstr>
      <vt:lpstr>Leave-One-Out Cross Validation </vt:lpstr>
      <vt:lpstr>4-Experimental results </vt:lpstr>
      <vt:lpstr>PowerPoint Sunusu</vt:lpstr>
      <vt:lpstr>5-Conclusion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Mining Project  </dc:title>
  <dc:creator>Murat Ege Birtane</dc:creator>
  <cp:lastModifiedBy>Murat Ege Birtane</cp:lastModifiedBy>
  <cp:revision>2</cp:revision>
  <dcterms:created xsi:type="dcterms:W3CDTF">2024-05-13T09:49:43Z</dcterms:created>
  <dcterms:modified xsi:type="dcterms:W3CDTF">2026-01-14T22:23:47Z</dcterms:modified>
</cp:coreProperties>
</file>